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5"/>
  </p:notesMasterIdLst>
  <p:sldIdLst>
    <p:sldId id="283" r:id="rId3"/>
    <p:sldId id="257" r:id="rId4"/>
    <p:sldId id="282" r:id="rId6"/>
    <p:sldId id="284" r:id="rId7"/>
    <p:sldId id="285" r:id="rId8"/>
    <p:sldId id="281" r:id="rId9"/>
    <p:sldId id="279" r:id="rId10"/>
    <p:sldId id="287" r:id="rId11"/>
    <p:sldId id="288" r:id="rId12"/>
    <p:sldId id="289" r:id="rId13"/>
    <p:sldId id="290" r:id="rId14"/>
    <p:sldId id="291" r:id="rId15"/>
    <p:sldId id="262" r:id="rId16"/>
    <p:sldId id="264" r:id="rId17"/>
    <p:sldId id="278" r:id="rId18"/>
    <p:sldId id="286" r:id="rId19"/>
    <p:sldId id="277" r:id="rId20"/>
    <p:sldId id="292" r:id="rId21"/>
    <p:sldId id="293" r:id="rId22"/>
    <p:sldId id="294" r:id="rId23"/>
    <p:sldId id="280" r:id="rId24"/>
    <p:sldId id="276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86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careersathiai.vercel.app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hyperlink" Target="https://careersathiai.vercel.app/" TargetMode="External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</a:t>
            </a:r>
            <a:r>
              <a:rPr lang="en-US" b="1" i="1" dirty="0" err="1"/>
              <a:t>LangFlow</a:t>
            </a:r>
            <a:r>
              <a:rPr lang="en-US" b="1" i="1" dirty="0"/>
              <a:t>”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 panose="020F0502020204030204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 panose="02020603050405020304"/>
              <a:buNone/>
            </a:pPr>
            <a:endParaRPr sz="3200" b="1" i="0" u="none" strike="noStrike" cap="none" dirty="0">
              <a:solidFill>
                <a:srgbClr val="00206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aphicFrame>
        <p:nvGraphicFramePr>
          <p:cNvPr id="96" name="Google Shape;96;p2"/>
          <p:cNvGraphicFramePr/>
          <p:nvPr/>
        </p:nvGraphicFramePr>
        <p:xfrm>
          <a:off x="934721" y="2312667"/>
          <a:ext cx="9759527" cy="3536326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144987"/>
                <a:gridCol w="2538180"/>
                <a:gridCol w="2538180"/>
                <a:gridCol w="2538180"/>
              </a:tblGrid>
              <a:tr h="158813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  <a:sym typeface="Calibri" panose="020F0502020204030204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  <a:sym typeface="Calibri" panose="020F0502020204030204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  <a:sym typeface="Calibri" panose="020F0502020204030204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</a:tr>
              <a:tr h="194819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/>
                        <a:t>Betha eswara sri lakshmi meghana</a:t>
                      </a:r>
                      <a:endParaRPr lang="en-US" b="1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buelab85@gmail.com</a:t>
                      </a:r>
                      <a:endParaRPr lang="en-US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9121849788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94082" y="1238805"/>
            <a:ext cx="102802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dirty="0"/>
          </a:p>
          <a:p>
            <a:r>
              <a:rPr lang="en-US" sz="2400" b="1" dirty="0"/>
              <a:t>Domain of  Project – </a:t>
            </a:r>
            <a:r>
              <a:rPr lang="en-US" sz="2400" b="1" dirty="0">
                <a:highlight>
                  <a:srgbClr val="FFFF00"/>
                </a:highlight>
              </a:rPr>
              <a:t>Education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91205" y="257277"/>
            <a:ext cx="95811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Title –     </a:t>
            </a:r>
            <a:r>
              <a:rPr lang="en-US" sz="2400" b="1" dirty="0" err="1">
                <a:highlight>
                  <a:srgbClr val="FFFF00"/>
                </a:highlight>
              </a:rPr>
              <a:t>CareerSathi</a:t>
            </a:r>
            <a:r>
              <a:rPr lang="en-US" sz="2400" b="1" dirty="0">
                <a:highlight>
                  <a:srgbClr val="FFFF00"/>
                </a:highlight>
              </a:rPr>
              <a:t> AI</a:t>
            </a:r>
            <a:endParaRPr lang="en-US" sz="2400" b="1" dirty="0">
              <a:highlight>
                <a:srgbClr val="FFFF00"/>
              </a:highlight>
            </a:endParaRPr>
          </a:p>
          <a:p>
            <a:endParaRPr lang="en-US" sz="2400" b="1" dirty="0">
              <a:highlight>
                <a:srgbClr val="FFFF00"/>
              </a:highlight>
            </a:endParaRPr>
          </a:p>
          <a:p>
            <a:r>
              <a:rPr lang="en-US" sz="2400" b="1" dirty="0">
                <a:solidFill>
                  <a:schemeClr val="accent2"/>
                </a:solidFill>
                <a:highlight>
                  <a:srgbClr val="FFFF00"/>
                </a:highlight>
              </a:rPr>
              <a:t>AI-Powered Career Guidance and Skill Development Assistant</a:t>
            </a:r>
            <a:endParaRPr lang="en-IN" sz="2400" b="1" dirty="0">
              <a:solidFill>
                <a:schemeClr val="accent2"/>
              </a:solidFill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7445" y="3955415"/>
            <a:ext cx="1534795" cy="181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2224" y="776791"/>
            <a:ext cx="1060704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  <a:p>
            <a:pPr fontAlgn="base"/>
            <a:r>
              <a:rPr lang="en-US" b="1" dirty="0">
                <a:solidFill>
                  <a:srgbClr val="FF0000"/>
                </a:solidFill>
              </a:rPr>
              <a:t>The Challenge: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dirty="0"/>
              <a:t>Many rural students face difficulties in choosing the right career path due </a:t>
            </a:r>
            <a:r>
              <a:rPr lang="en-US" dirty="0">
                <a:solidFill>
                  <a:schemeClr val="bg2"/>
                </a:solidFill>
              </a:rPr>
              <a:t>to </a:t>
            </a:r>
            <a:r>
              <a:rPr lang="en-US" b="1" dirty="0">
                <a:solidFill>
                  <a:schemeClr val="bg2"/>
                </a:solidFill>
              </a:rPr>
              <a:t>limited access to professional career guidance</a:t>
            </a:r>
            <a:r>
              <a:rPr lang="en-US" dirty="0"/>
              <a:t>, </a:t>
            </a:r>
            <a:r>
              <a:rPr lang="en-US" b="1" dirty="0">
                <a:solidFill>
                  <a:srgbClr val="C00000"/>
                </a:solidFill>
              </a:rPr>
              <a:t>lack of awareness about emerging opportunities</a:t>
            </a:r>
            <a:r>
              <a:rPr lang="en-US" dirty="0"/>
              <a:t>, and scattered information about skills, courses, and job requirements.</a:t>
            </a:r>
            <a:endParaRPr lang="en-US" dirty="0"/>
          </a:p>
          <a:p>
            <a:r>
              <a:rPr lang="en-US" dirty="0"/>
              <a:t>As a result</a:t>
            </a:r>
            <a:r>
              <a:rPr lang="en-US" b="1" dirty="0"/>
              <a:t>, </a:t>
            </a:r>
            <a:r>
              <a:rPr lang="en-US" b="1" dirty="0">
                <a:solidFill>
                  <a:schemeClr val="accent1"/>
                </a:solidFill>
              </a:rPr>
              <a:t>students often struggle to make informed decisions about their education</a:t>
            </a:r>
            <a:r>
              <a:rPr lang="en-US" dirty="0"/>
              <a:t>, skill development, and future careers.</a:t>
            </a:r>
            <a:endParaRPr lang="en-US" dirty="0"/>
          </a:p>
          <a:p>
            <a:pPr fontAlgn="base"/>
            <a:endParaRPr lang="en-US" dirty="0"/>
          </a:p>
          <a:p>
            <a:pPr fontAlgn="base"/>
            <a:r>
              <a:rPr lang="en-US" b="1" dirty="0"/>
              <a:t>The Objective:</a:t>
            </a:r>
            <a:endParaRPr lang="en-US" b="1" dirty="0"/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Our Solution –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CareerSathi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AI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b="1" dirty="0" err="1">
                <a:solidFill>
                  <a:schemeClr val="accent4"/>
                </a:solidFill>
              </a:rPr>
              <a:t>CareerSathi</a:t>
            </a:r>
            <a:r>
              <a:rPr lang="en-US" b="1" dirty="0">
                <a:solidFill>
                  <a:schemeClr val="accent4"/>
                </a:solidFill>
              </a:rPr>
              <a:t> AI</a:t>
            </a:r>
            <a:r>
              <a:rPr lang="en-US" dirty="0">
                <a:solidFill>
                  <a:schemeClr val="accent4"/>
                </a:solidFill>
              </a:rPr>
              <a:t> </a:t>
            </a:r>
            <a:r>
              <a:rPr lang="en-US" dirty="0"/>
              <a:t>is an AI-powered career guidance assistant that provides personalized career recommendations, skill-development roadmaps, learning resources, and placement preparation guidance.</a:t>
            </a:r>
            <a:endParaRPr lang="en-US" dirty="0"/>
          </a:p>
          <a:p>
            <a:r>
              <a:rPr lang="en-US" dirty="0"/>
              <a:t>The platform helps students:</a:t>
            </a:r>
            <a:endParaRPr lang="en-US" dirty="0"/>
          </a:p>
          <a:p>
            <a:r>
              <a:rPr lang="en-US" dirty="0"/>
              <a:t> ► Explore suitable career paths</a:t>
            </a:r>
            <a:endParaRPr lang="en-US" dirty="0"/>
          </a:p>
          <a:p>
            <a:r>
              <a:rPr lang="en-US" dirty="0"/>
              <a:t> ► Identify required skills and learning resources</a:t>
            </a:r>
            <a:endParaRPr lang="en-US" dirty="0"/>
          </a:p>
          <a:p>
            <a:r>
              <a:rPr lang="en-US" dirty="0"/>
              <a:t> ► Build personalized career roadmaps</a:t>
            </a:r>
            <a:endParaRPr lang="en-US" dirty="0"/>
          </a:p>
          <a:p>
            <a:r>
              <a:rPr lang="en-US" dirty="0"/>
              <a:t> ► Receive placement and interview guidance</a:t>
            </a:r>
            <a:endParaRPr lang="en-US" dirty="0"/>
          </a:p>
          <a:p>
            <a:r>
              <a:rPr lang="en-US" dirty="0"/>
              <a:t> ► Access reliable career information anytime</a:t>
            </a:r>
            <a:endParaRPr lang="en-US" dirty="0"/>
          </a:p>
          <a:p>
            <a:endParaRPr lang="en-US" dirty="0"/>
          </a:p>
          <a:p>
            <a:r>
              <a:rPr lang="en-US" b="1" dirty="0">
                <a:highlight>
                  <a:srgbClr val="FFFF00"/>
                </a:highlight>
              </a:rPr>
              <a:t>Impact</a:t>
            </a:r>
            <a:endParaRPr lang="en-US" b="1" dirty="0">
              <a:highlight>
                <a:srgbClr val="FFFF00"/>
              </a:highlight>
            </a:endParaRPr>
          </a:p>
          <a:p>
            <a:endParaRPr lang="en-US" dirty="0"/>
          </a:p>
          <a:p>
            <a:r>
              <a:rPr lang="en-US" dirty="0" err="1"/>
              <a:t>CareerSathi</a:t>
            </a:r>
            <a:r>
              <a:rPr lang="en-US" dirty="0"/>
              <a:t> </a:t>
            </a:r>
            <a:r>
              <a:rPr lang="en-US" b="1" dirty="0"/>
              <a:t>AI empowers rural youth with accessible</a:t>
            </a:r>
            <a:r>
              <a:rPr lang="en-US" dirty="0"/>
              <a:t>, personalized, and real-time career guidance, helping them transform career aspirations into actionable plans.</a:t>
            </a:r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522224" y="315126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-  </a:t>
            </a:r>
            <a:r>
              <a:rPr lang="en-US" sz="1600" b="1" dirty="0"/>
              <a:t>AI Career Counselor Rural Youth</a:t>
            </a:r>
            <a:endParaRPr lang="en-IN" sz="16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5592" y="810153"/>
            <a:ext cx="1060704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pPr fontAlgn="base"/>
            <a:r>
              <a:rPr lang="en-IN" b="1" dirty="0"/>
              <a:t>Tech Stack</a:t>
            </a:r>
            <a:endParaRPr lang="en-IN" b="1" dirty="0"/>
          </a:p>
          <a:p>
            <a:pPr fontAlgn="base"/>
            <a:endParaRPr lang="en-IN" b="1" dirty="0"/>
          </a:p>
          <a:p>
            <a:r>
              <a:rPr lang="en-IN" b="1" dirty="0">
                <a:highlight>
                  <a:srgbClr val="FFFF00"/>
                </a:highlight>
              </a:rPr>
              <a:t>Core Technologies</a:t>
            </a:r>
            <a:endParaRPr lang="en-IN" b="1" dirty="0">
              <a:highlight>
                <a:srgbClr val="FFFF00"/>
              </a:highlight>
            </a:endParaRPr>
          </a:p>
          <a:p>
            <a:r>
              <a:rPr lang="en-IN" b="1" dirty="0"/>
              <a:t>IBM </a:t>
            </a:r>
            <a:r>
              <a:rPr lang="en-IN" b="1" dirty="0" err="1"/>
              <a:t>watsonx</a:t>
            </a:r>
            <a:r>
              <a:rPr lang="en-IN" b="1" dirty="0"/>
              <a:t> Orchestrate</a:t>
            </a:r>
            <a:r>
              <a:rPr lang="en-IN" dirty="0"/>
              <a:t> – Agent creation, management, and deployment </a:t>
            </a:r>
            <a:endParaRPr lang="en-IN" dirty="0"/>
          </a:p>
          <a:p>
            <a:r>
              <a:rPr lang="en-IN" b="1" dirty="0"/>
              <a:t>IBM watsonx.ai</a:t>
            </a:r>
            <a:r>
              <a:rPr lang="en-IN" dirty="0"/>
              <a:t> – AI platform for model access and inference </a:t>
            </a:r>
            <a:endParaRPr lang="en-IN" dirty="0"/>
          </a:p>
          <a:p>
            <a:r>
              <a:rPr lang="en-IN" b="1" dirty="0"/>
              <a:t>IBM Granite Models</a:t>
            </a:r>
            <a:r>
              <a:rPr lang="en-IN" dirty="0"/>
              <a:t> – Natural language understanding and career guidance generation</a:t>
            </a:r>
            <a:endParaRPr lang="en-IN" dirty="0"/>
          </a:p>
          <a:p>
            <a:r>
              <a:rPr lang="en-IN" b="1" dirty="0"/>
              <a:t>IBM Knowledge Base </a:t>
            </a:r>
            <a:r>
              <a:rPr lang="en-IN" dirty="0"/>
              <a:t>– Stores and retrieves career knowledge for accurate responses</a:t>
            </a:r>
            <a:endParaRPr lang="en-IN" dirty="0"/>
          </a:p>
          <a:p>
            <a:endParaRPr lang="en-IN" dirty="0"/>
          </a:p>
          <a:p>
            <a:r>
              <a:rPr lang="en-IN" b="1" dirty="0">
                <a:highlight>
                  <a:srgbClr val="00FF00"/>
                </a:highlight>
              </a:rPr>
              <a:t>Supporting Technologies</a:t>
            </a:r>
            <a:endParaRPr lang="en-IN" b="1" dirty="0">
              <a:highlight>
                <a:srgbClr val="00FF00"/>
              </a:highlight>
            </a:endParaRPr>
          </a:p>
          <a:p>
            <a:r>
              <a:rPr lang="en-IN" b="1" dirty="0" err="1"/>
              <a:t>Vercel</a:t>
            </a:r>
            <a:r>
              <a:rPr lang="en-IN" dirty="0"/>
              <a:t> – Web hosting and deployment </a:t>
            </a:r>
            <a:endParaRPr lang="en-IN" dirty="0"/>
          </a:p>
          <a:p>
            <a:r>
              <a:rPr lang="en-IN" b="1" dirty="0"/>
              <a:t>HTML</a:t>
            </a:r>
            <a:r>
              <a:rPr lang="en-IN" dirty="0"/>
              <a:t> – Frontend structure </a:t>
            </a:r>
            <a:endParaRPr lang="en-IN" dirty="0"/>
          </a:p>
          <a:p>
            <a:r>
              <a:rPr lang="en-IN" b="1" dirty="0"/>
              <a:t>JavaScript</a:t>
            </a:r>
            <a:r>
              <a:rPr lang="en-IN" dirty="0"/>
              <a:t> – Agent embedding and interaction </a:t>
            </a:r>
            <a:endParaRPr lang="en-IN" dirty="0"/>
          </a:p>
          <a:p>
            <a:r>
              <a:rPr lang="en-IN" b="1" dirty="0"/>
              <a:t>Knowledge Base / RAG</a:t>
            </a:r>
            <a:r>
              <a:rPr lang="en-IN" dirty="0"/>
              <a:t> – Career information retrieval and recommendations</a:t>
            </a:r>
            <a:endParaRPr lang="en-IN" dirty="0"/>
          </a:p>
          <a:p>
            <a:pPr fontAlgn="base"/>
            <a:endParaRPr lang="en-IN" dirty="0"/>
          </a:p>
          <a:p>
            <a:pPr fontAlgn="base"/>
            <a:endParaRPr lang="en-IN" dirty="0"/>
          </a:p>
          <a:p>
            <a:pPr fontAlgn="base"/>
            <a:r>
              <a:rPr lang="en-IN" dirty="0">
                <a:highlight>
                  <a:srgbClr val="FFFF00"/>
                </a:highlight>
              </a:rPr>
              <a:t> IBM </a:t>
            </a:r>
            <a:r>
              <a:rPr lang="en-IN" dirty="0" err="1">
                <a:highlight>
                  <a:srgbClr val="FFFF00"/>
                </a:highlight>
              </a:rPr>
              <a:t>watsonx</a:t>
            </a:r>
            <a:r>
              <a:rPr lang="en-IN" dirty="0">
                <a:highlight>
                  <a:srgbClr val="FFFF00"/>
                </a:highlight>
              </a:rPr>
              <a:t> Orchestrate + IBM watsonx.ai + IBM Granite Models + </a:t>
            </a:r>
            <a:r>
              <a:rPr lang="en-IN" dirty="0" err="1">
                <a:highlight>
                  <a:srgbClr val="FFFF00"/>
                </a:highlight>
              </a:rPr>
              <a:t>Vercel</a:t>
            </a:r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4152" y="27736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 </a:t>
            </a:r>
            <a:endParaRPr lang="en-IN" sz="24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560" y="681897"/>
            <a:ext cx="12120880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CareerSathi</a:t>
            </a:r>
            <a:r>
              <a:rPr lang="en-US" b="1" dirty="0"/>
              <a:t> AI</a:t>
            </a:r>
            <a:r>
              <a:rPr lang="en-US" dirty="0"/>
              <a:t> is an </a:t>
            </a:r>
            <a:r>
              <a:rPr lang="en-US" b="1" dirty="0"/>
              <a:t>AI-powered Career Counseling Agent</a:t>
            </a:r>
            <a:r>
              <a:rPr lang="en-US" dirty="0"/>
              <a:t> built to empower rural and underserved students with personalized career guidance. It acts as a </a:t>
            </a:r>
            <a:r>
              <a:rPr lang="en-US" b="1" dirty="0"/>
              <a:t>virtual career mentor</a:t>
            </a:r>
            <a:r>
              <a:rPr lang="en-US" dirty="0"/>
              <a:t> that understands a student's interests, strengths, academic background, and career goals to recommend suitable career paths, skills to learn, and opportunities to explore.</a:t>
            </a:r>
            <a:endParaRPr lang="en-US" dirty="0"/>
          </a:p>
          <a:p>
            <a:endParaRPr lang="en-US" dirty="0"/>
          </a:p>
          <a:p>
            <a:r>
              <a:rPr lang="en-IN" dirty="0"/>
              <a:t>Built using </a:t>
            </a:r>
            <a:r>
              <a:rPr lang="en-IN" b="1" dirty="0"/>
              <a:t>IBM </a:t>
            </a:r>
            <a:r>
              <a:rPr lang="en-IN" b="1" dirty="0" err="1"/>
              <a:t>watsonx</a:t>
            </a:r>
            <a:r>
              <a:rPr lang="en-IN" b="1" dirty="0"/>
              <a:t> Orchestrate, IBM watsonx.ai, Granite Models, and </a:t>
            </a:r>
            <a:r>
              <a:rPr lang="en-IN" b="1" dirty="0" err="1"/>
              <a:t>LangFlow</a:t>
            </a:r>
            <a:r>
              <a:rPr lang="en-IN" dirty="0"/>
              <a:t>, the solution combines intelligent conversation, knowledge retrieval, and multi-agent orchestration to deliver accurate, personalized, and actionable career guidance.</a:t>
            </a:r>
            <a:endParaRPr lang="en-IN" dirty="0"/>
          </a:p>
          <a:p>
            <a:endParaRPr lang="en-IN" u="sng" dirty="0"/>
          </a:p>
          <a:p>
            <a:r>
              <a:rPr lang="en-IN" sz="1600" b="1" u="sng" dirty="0">
                <a:solidFill>
                  <a:schemeClr val="accent1">
                    <a:lumMod val="50000"/>
                  </a:schemeClr>
                </a:solidFill>
              </a:rPr>
              <a:t>        Key Agents &amp; Capabilities</a:t>
            </a:r>
            <a:endParaRPr lang="en-IN" sz="1600" b="1" u="sng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IN" sz="1600" b="1" u="sng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IN" sz="1600" b="1" dirty="0">
                <a:solidFill>
                  <a:schemeClr val="accent1">
                    <a:lumMod val="50000"/>
                  </a:schemeClr>
                </a:solidFill>
              </a:rPr>
              <a:t>         </a:t>
            </a: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Career Discovery Agent                         </a:t>
            </a:r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Skill Gap Agent                                   </a:t>
            </a:r>
            <a:r>
              <a:rPr lang="en-IN" b="1" dirty="0">
                <a:solidFill>
                  <a:srgbClr val="7030A0"/>
                </a:solidFill>
              </a:rPr>
              <a:t>Learning Roadmap Agent                      </a:t>
            </a:r>
            <a:r>
              <a:rPr lang="en-IN" b="1" dirty="0">
                <a:solidFill>
                  <a:schemeClr val="accent2">
                    <a:lumMod val="50000"/>
                  </a:schemeClr>
                </a:solidFill>
              </a:rPr>
              <a:t>Placement Support</a:t>
            </a:r>
            <a:endParaRPr lang="en-IN" b="1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US" dirty="0"/>
              <a:t>          Identifies suitable career paths                  </a:t>
            </a:r>
            <a:r>
              <a:rPr lang="en-IN" dirty="0" err="1"/>
              <a:t>Analyzes</a:t>
            </a:r>
            <a:r>
              <a:rPr lang="en-IN" dirty="0"/>
              <a:t>  current  skills                       Creates  personalized                                Provides interview </a:t>
            </a:r>
            <a:endParaRPr lang="en-US" dirty="0"/>
          </a:p>
          <a:p>
            <a:r>
              <a:rPr lang="en-US" dirty="0"/>
              <a:t>          based on student interests,                       </a:t>
            </a:r>
            <a:r>
              <a:rPr lang="en-IN" dirty="0"/>
              <a:t>against industry demands                     learning roadmaps with </a:t>
            </a:r>
            <a:r>
              <a:rPr lang="en-US" dirty="0"/>
              <a:t>                            </a:t>
            </a:r>
            <a:r>
              <a:rPr lang="en-IN" dirty="0"/>
              <a:t>preparation, resume</a:t>
            </a:r>
            <a:r>
              <a:rPr lang="en-US" dirty="0"/>
              <a:t>                            </a:t>
            </a:r>
            <a:endParaRPr lang="en-US" dirty="0"/>
          </a:p>
          <a:p>
            <a:r>
              <a:rPr lang="en-US" dirty="0"/>
              <a:t>          strengths, personality, and                        </a:t>
            </a:r>
            <a:r>
              <a:rPr lang="en-IN" dirty="0"/>
              <a:t>and  identifies skill gaps                        courses, resources                                    building tips, and job </a:t>
            </a:r>
            <a:endParaRPr lang="en-US" dirty="0"/>
          </a:p>
          <a:p>
            <a:r>
              <a:rPr lang="en-US" dirty="0"/>
              <a:t>          aspirations.                                                </a:t>
            </a:r>
            <a:r>
              <a:rPr lang="en-IN" dirty="0"/>
              <a:t>with improvement tips.                          certifications, and projects.                        search strategies.</a:t>
            </a: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35560" y="128050"/>
            <a:ext cx="7303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Proposed Solution -</a:t>
            </a:r>
            <a:endParaRPr lang="en-IN" sz="2800" b="1" dirty="0"/>
          </a:p>
        </p:txBody>
      </p:sp>
      <p:pic>
        <p:nvPicPr>
          <p:cNvPr id="8" name="Picture 7" descr="Jacqueline Cull - Watson Cull Family Law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490" y="2069888"/>
            <a:ext cx="251812" cy="371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60646"/>
            <a:ext cx="592327" cy="797331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3098800" y="2717800"/>
            <a:ext cx="0" cy="1135628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0872" y="2583001"/>
            <a:ext cx="752860" cy="832922"/>
          </a:xfrm>
          <a:prstGeom prst="rect">
            <a:avLst/>
          </a:prstGeom>
        </p:spPr>
      </p:pic>
      <p:cxnSp>
        <p:nvCxnSpPr>
          <p:cNvPr id="23" name="Straight Connector 22"/>
          <p:cNvCxnSpPr/>
          <p:nvPr/>
        </p:nvCxnSpPr>
        <p:spPr>
          <a:xfrm>
            <a:off x="5981700" y="2716518"/>
            <a:ext cx="0" cy="1135628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9804" y="2596078"/>
            <a:ext cx="875027" cy="832922"/>
          </a:xfrm>
          <a:prstGeom prst="rect">
            <a:avLst/>
          </a:prstGeom>
        </p:spPr>
      </p:pic>
      <p:cxnSp>
        <p:nvCxnSpPr>
          <p:cNvPr id="26" name="Straight Connector 25"/>
          <p:cNvCxnSpPr/>
          <p:nvPr/>
        </p:nvCxnSpPr>
        <p:spPr>
          <a:xfrm>
            <a:off x="9202420" y="2716518"/>
            <a:ext cx="0" cy="1135628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30" name="Picture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9261" y="2624629"/>
            <a:ext cx="678172" cy="659703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490" y="3972191"/>
            <a:ext cx="410837" cy="42328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5560" y="3860976"/>
            <a:ext cx="38481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/>
              <a:t>               </a:t>
            </a:r>
            <a:endParaRPr lang="en-IN" b="1" u="sng" dirty="0"/>
          </a:p>
          <a:p>
            <a:r>
              <a:rPr lang="en-IN" b="1" u="sng" dirty="0"/>
              <a:t>           </a:t>
            </a:r>
            <a:r>
              <a:rPr lang="en-IN" sz="1600" b="1" u="sng" dirty="0">
                <a:solidFill>
                  <a:schemeClr val="accent1">
                    <a:lumMod val="75000"/>
                  </a:schemeClr>
                </a:solidFill>
              </a:rPr>
              <a:t>Key Features</a:t>
            </a:r>
            <a:endParaRPr lang="en-IN" sz="1600" b="1" u="sng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6680" y="4500058"/>
            <a:ext cx="909574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 Natural language conversation in English &amp; regional languages      </a:t>
            </a:r>
            <a:r>
              <a:rPr lang="en-IN" dirty="0"/>
              <a:t>• Scholarship &amp; higher education guidance</a:t>
            </a:r>
            <a:r>
              <a:rPr lang="en-US" dirty="0"/>
              <a:t>                        </a:t>
            </a:r>
            <a:endParaRPr lang="en-US" dirty="0"/>
          </a:p>
          <a:p>
            <a:r>
              <a:rPr lang="en-IN" dirty="0"/>
              <a:t>•  Personalized career recommendations                                             •  Internship &amp; job opportunity suggestions</a:t>
            </a:r>
            <a:endParaRPr lang="en-IN" dirty="0"/>
          </a:p>
          <a:p>
            <a:r>
              <a:rPr lang="en-US" dirty="0"/>
              <a:t>• Skill assessment &amp; gap analysis                                                         </a:t>
            </a:r>
            <a:r>
              <a:rPr lang="en-IN" dirty="0"/>
              <a:t>•  Real-time doubt resolution</a:t>
            </a:r>
            <a:endParaRPr lang="en-US" dirty="0"/>
          </a:p>
          <a:p>
            <a:r>
              <a:rPr lang="en-US" dirty="0"/>
              <a:t>• Step-by-step learning roadmaps                                                         </a:t>
            </a:r>
            <a:r>
              <a:rPr lang="en-IN" dirty="0"/>
              <a:t>• Progress tracking &amp; goal management</a:t>
            </a:r>
            <a:endParaRPr lang="en-US" dirty="0"/>
          </a:p>
          <a:p>
            <a:r>
              <a:rPr lang="en-US" dirty="0"/>
              <a:t>• Course &amp; certification recommendations</a:t>
            </a:r>
            <a:endParaRPr lang="en-US" dirty="0"/>
          </a:p>
          <a:p>
            <a:r>
              <a:rPr lang="en-US" dirty="0"/>
              <a:t>• Resume &amp; interview preparation support</a:t>
            </a:r>
            <a:endParaRPr lang="en-US" dirty="0"/>
          </a:p>
          <a:p>
            <a:endParaRPr lang="en-IN" dirty="0"/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48350" y="3972191"/>
            <a:ext cx="721360" cy="60331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018390" y="3937230"/>
            <a:ext cx="29921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                  </a:t>
            </a:r>
            <a:endParaRPr lang="en-IN" dirty="0"/>
          </a:p>
          <a:p>
            <a:r>
              <a:rPr lang="en-IN" dirty="0"/>
              <a:t>                  </a:t>
            </a:r>
            <a:r>
              <a:rPr lang="en-IN" sz="1600" b="1" u="sng" dirty="0">
                <a:solidFill>
                  <a:schemeClr val="accent1">
                    <a:lumMod val="50000"/>
                  </a:schemeClr>
                </a:solidFill>
              </a:rPr>
              <a:t>Usage</a:t>
            </a:r>
            <a:endParaRPr lang="en-IN" sz="1600" b="1" u="sng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202420" y="4575030"/>
            <a:ext cx="299212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Students interact via chat interface </a:t>
            </a:r>
            <a:r>
              <a:rPr lang="en-IN" b="1" dirty="0"/>
              <a:t>→</a:t>
            </a:r>
            <a:r>
              <a:rPr lang="en-IN" dirty="0"/>
              <a:t> share their skills interests, skills, education background </a:t>
            </a:r>
            <a:r>
              <a:rPr lang="en-IN" b="1" dirty="0"/>
              <a:t>→</a:t>
            </a:r>
            <a:r>
              <a:rPr lang="en-IN" dirty="0"/>
              <a:t> receive personalized career options</a:t>
            </a:r>
            <a:endParaRPr lang="en-IN" dirty="0"/>
          </a:p>
          <a:p>
            <a:r>
              <a:rPr lang="en-IN" dirty="0"/>
              <a:t>→follow learning roadmap →</a:t>
            </a:r>
            <a:endParaRPr lang="en-IN" dirty="0"/>
          </a:p>
          <a:p>
            <a:r>
              <a:rPr lang="en-IN" dirty="0"/>
              <a:t>build skills → get placement &amp; higher education guidance.</a:t>
            </a:r>
            <a:endParaRPr lang="en-IN" dirty="0"/>
          </a:p>
          <a:p>
            <a:r>
              <a:rPr lang="en-IN" dirty="0"/>
              <a:t> </a:t>
            </a:r>
            <a:endParaRPr lang="en-IN" dirty="0"/>
          </a:p>
        </p:txBody>
      </p:sp>
      <p:cxnSp>
        <p:nvCxnSpPr>
          <p:cNvPr id="44" name="Straight Connector 43"/>
          <p:cNvCxnSpPr/>
          <p:nvPr/>
        </p:nvCxnSpPr>
        <p:spPr>
          <a:xfrm>
            <a:off x="11897360" y="2716518"/>
            <a:ext cx="0" cy="1135628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/>
          <p:nvPr/>
        </p:nvSpPr>
        <p:spPr>
          <a:xfrm>
            <a:off x="4405075" y="273888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 panose="02020603050405020304"/>
              <a:buNone/>
            </a:pPr>
            <a:r>
              <a:rPr lang="en-US" sz="2400" b="1" dirty="0" err="1">
                <a:sym typeface="Times New Roman" panose="02020603050405020304"/>
              </a:rPr>
              <a:t>CareerSathi</a:t>
            </a:r>
            <a:r>
              <a:rPr lang="en-US" sz="2400" b="1" dirty="0">
                <a:sym typeface="Times New Roman" panose="02020603050405020304"/>
              </a:rPr>
              <a:t> AI</a:t>
            </a:r>
            <a:endParaRPr sz="2400" b="1" dirty="0">
              <a:sym typeface="Times New Roman" panose="02020603050405020304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22396"/>
            <a:ext cx="12107031" cy="61356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/>
          <p:cNvSpPr/>
          <p:nvPr/>
        </p:nvSpPr>
        <p:spPr>
          <a:xfrm>
            <a:off x="203200" y="71120"/>
            <a:ext cx="6243319" cy="7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 panose="02020603050405020304"/>
              <a:buNone/>
            </a:pPr>
            <a:endParaRPr sz="2400" b="1" dirty="0">
              <a:sym typeface="Times New Roman" panose="020206030504050203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200" y="845053"/>
            <a:ext cx="11826240" cy="60129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70480" y="227254"/>
            <a:ext cx="83362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User Query Processing and </a:t>
            </a:r>
            <a:r>
              <a:rPr lang="en-IN" sz="2400" b="1" dirty="0" err="1">
                <a:solidFill>
                  <a:srgbClr val="0070C0"/>
                </a:solidFill>
              </a:rPr>
              <a:t>ResponseTesting</a:t>
            </a:r>
            <a:endParaRPr lang="en-IN" sz="24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008380" y="-26708"/>
            <a:ext cx="3725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C000"/>
                </a:solidFill>
              </a:rPr>
              <a:t>Generated Responses</a:t>
            </a:r>
            <a:endParaRPr lang="en-IN" sz="2400" b="1" dirty="0">
              <a:solidFill>
                <a:srgbClr val="FFC000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699689"/>
            <a:ext cx="10668000" cy="545862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0" y="218440"/>
            <a:ext cx="11490960" cy="6421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720" y="457200"/>
            <a:ext cx="1093216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7040" y="347758"/>
            <a:ext cx="10830560" cy="591080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000" y="406401"/>
            <a:ext cx="11379200" cy="59334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/>
          <p:cNvSpPr/>
          <p:nvPr/>
        </p:nvSpPr>
        <p:spPr>
          <a:xfrm>
            <a:off x="187071" y="67958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endParaRPr 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" y="57798"/>
            <a:ext cx="12192000" cy="672208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128" y="25298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Agentic AI in the solution </a:t>
            </a:r>
            <a:endParaRPr lang="en-IN" sz="32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262128" y="1226443"/>
            <a:ext cx="740664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Role of Agentic AI in </a:t>
            </a:r>
            <a:r>
              <a:rPr lang="en-US" b="1" dirty="0" err="1"/>
              <a:t>CareerSathi</a:t>
            </a:r>
            <a:r>
              <a:rPr lang="en-US" b="1" dirty="0"/>
              <a:t> AI</a:t>
            </a:r>
            <a:endParaRPr lang="en-US" b="1" dirty="0"/>
          </a:p>
          <a:p>
            <a:r>
              <a:rPr lang="en-US" dirty="0"/>
              <a:t>Agentic AI enables </a:t>
            </a:r>
            <a:r>
              <a:rPr lang="en-US" dirty="0" err="1"/>
              <a:t>CareerSathi</a:t>
            </a:r>
            <a:r>
              <a:rPr lang="en-US" dirty="0"/>
              <a:t> AI to function as an intelligent, autonomous career guidance system rather than a simple chatbot. Using </a:t>
            </a:r>
            <a:r>
              <a:rPr lang="en-US" b="1" dirty="0"/>
              <a:t>IBM watsonx.ai, IBM </a:t>
            </a:r>
            <a:r>
              <a:rPr lang="en-US" b="1" dirty="0" err="1"/>
              <a:t>watsonx</a:t>
            </a:r>
            <a:r>
              <a:rPr lang="en-US" b="1" dirty="0"/>
              <a:t> Orchestrate, and Granite Models</a:t>
            </a:r>
            <a:r>
              <a:rPr lang="en-US" dirty="0"/>
              <a:t>, it coordinates multiple specialized agents to deliver personalized career recommendations.</a:t>
            </a:r>
            <a:endParaRPr lang="en-US" dirty="0"/>
          </a:p>
          <a:p>
            <a:r>
              <a:rPr lang="en-US" dirty="0"/>
              <a:t>Each agent performs a specific role—such as career discovery, skill gap analysis, learning roadmap generation, placement support, and higher education guidance—while working collaboratively. This </a:t>
            </a:r>
            <a:r>
              <a:rPr lang="en-US" b="1" dirty="0"/>
              <a:t>multi-agent approach</a:t>
            </a:r>
            <a:r>
              <a:rPr lang="en-US" dirty="0"/>
              <a:t> ensures accurate and context-aware career assistance.</a:t>
            </a:r>
            <a:endParaRPr lang="en-US" dirty="0"/>
          </a:p>
          <a:p>
            <a:r>
              <a:rPr lang="en-US" dirty="0"/>
              <a:t>Agentic AI understands a student's interests, educational background, skills, and career goals to provide tailored recommendations. It supports </a:t>
            </a:r>
            <a:r>
              <a:rPr lang="en-US" b="1" dirty="0"/>
              <a:t>real-time adaptation</a:t>
            </a:r>
            <a:r>
              <a:rPr lang="en-US" dirty="0"/>
              <a:t>, continuously refining guidance based on user inputs and changing career aspirations.</a:t>
            </a:r>
            <a:endParaRPr lang="en-US" dirty="0"/>
          </a:p>
          <a:p>
            <a:r>
              <a:rPr lang="en-US" dirty="0"/>
              <a:t>Additionally, agents communicate with each other, enabling better decision-making and end-to-end career planning. Overall, Agentic AI makes </a:t>
            </a:r>
            <a:r>
              <a:rPr lang="en-US" dirty="0" err="1"/>
              <a:t>CareerSathi</a:t>
            </a:r>
            <a:r>
              <a:rPr lang="en-US" dirty="0"/>
              <a:t> AI proactive, personalized, and goal-driven, acting like a </a:t>
            </a:r>
            <a:r>
              <a:rPr lang="en-US" b="1" dirty="0"/>
              <a:t>24/7 digital career mentor</a:t>
            </a:r>
            <a:r>
              <a:rPr lang="en-US" dirty="0"/>
              <a:t> that helps students make informed career decisions and achieve their professional goals.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000" y="1093438"/>
            <a:ext cx="3088640" cy="402088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777240" y="1430528"/>
            <a:ext cx="1051560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• </a:t>
            </a:r>
            <a:r>
              <a:rPr lang="en-IN" b="1" dirty="0"/>
              <a:t>IBM </a:t>
            </a:r>
            <a:r>
              <a:rPr lang="en-IN" b="1" dirty="0" err="1"/>
              <a:t>watsonx</a:t>
            </a:r>
            <a:r>
              <a:rPr lang="en-IN" b="1" dirty="0"/>
              <a:t> Orchestrate</a:t>
            </a:r>
            <a:r>
              <a:rPr lang="en-IN" dirty="0"/>
              <a:t> – For orchestrating AI agents, managing conversations, and coordinating career guidance workflows.</a:t>
            </a:r>
            <a:endParaRPr lang="en-IN" dirty="0"/>
          </a:p>
          <a:p>
            <a:r>
              <a:rPr lang="en-IN" dirty="0"/>
              <a:t>• </a:t>
            </a:r>
            <a:r>
              <a:rPr lang="en-IN" b="1" dirty="0"/>
              <a:t>IBM watsonx.ai</a:t>
            </a:r>
            <a:r>
              <a:rPr lang="en-IN" dirty="0"/>
              <a:t> – For deploying foundation models and generating personalized career recommendations and learning roadmaps.</a:t>
            </a:r>
            <a:endParaRPr lang="en-IN" dirty="0"/>
          </a:p>
          <a:p>
            <a:r>
              <a:rPr lang="en-IN" dirty="0"/>
              <a:t>• </a:t>
            </a:r>
            <a:r>
              <a:rPr lang="en-IN" b="1" dirty="0"/>
              <a:t>IBM Granite Models / Llama Models</a:t>
            </a:r>
            <a:r>
              <a:rPr lang="en-IN" dirty="0"/>
              <a:t> – For natural language understanding, reasoning, career </a:t>
            </a:r>
            <a:r>
              <a:rPr lang="en-IN" dirty="0" err="1"/>
              <a:t>counseling</a:t>
            </a:r>
            <a:r>
              <a:rPr lang="en-IN" dirty="0"/>
              <a:t>, and personalized guidance.</a:t>
            </a:r>
            <a:endParaRPr lang="en-IN" dirty="0"/>
          </a:p>
          <a:p>
            <a:r>
              <a:rPr lang="en-IN" dirty="0"/>
              <a:t>• </a:t>
            </a:r>
            <a:r>
              <a:rPr lang="en-IN" b="1" dirty="0"/>
              <a:t>Knowledge Base (KB)</a:t>
            </a:r>
            <a:r>
              <a:rPr lang="en-IN" dirty="0"/>
              <a:t> – Stores career paths, certifications, scholarships, placement resources, and higher education information for accurate recommendations.</a:t>
            </a:r>
            <a:endParaRPr lang="en-IN" dirty="0"/>
          </a:p>
          <a:p>
            <a:r>
              <a:rPr lang="en-IN" dirty="0"/>
              <a:t>• </a:t>
            </a:r>
            <a:r>
              <a:rPr lang="en-IN" b="1" dirty="0"/>
              <a:t>RAG (Retrieval-Augmented Generation)</a:t>
            </a:r>
            <a:r>
              <a:rPr lang="en-IN" dirty="0"/>
              <a:t> – Retrieves relevant career information from the Knowledge Base before generating responses, improving accuracy and reliability.</a:t>
            </a:r>
            <a:endParaRPr lang="en-IN" dirty="0"/>
          </a:p>
          <a:p>
            <a:r>
              <a:rPr lang="en-IN" dirty="0"/>
              <a:t>• </a:t>
            </a:r>
            <a:r>
              <a:rPr lang="en-IN" b="1" dirty="0"/>
              <a:t>Vector Database (Chroma DB)</a:t>
            </a:r>
            <a:r>
              <a:rPr lang="en-IN" dirty="0"/>
              <a:t> – Stores and retrieves career knowledge efficiently for RAG-based recommendations.</a:t>
            </a:r>
            <a:endParaRPr lang="en-IN" dirty="0"/>
          </a:p>
          <a:p>
            <a:r>
              <a:rPr lang="en-IN" dirty="0"/>
              <a:t>• </a:t>
            </a:r>
            <a:r>
              <a:rPr lang="en-IN" b="1" dirty="0"/>
              <a:t>HTML, CSS &amp; JavaScript</a:t>
            </a:r>
            <a:r>
              <a:rPr lang="en-IN" dirty="0"/>
              <a:t> – Used to build the </a:t>
            </a:r>
            <a:r>
              <a:rPr lang="en-IN" dirty="0" err="1"/>
              <a:t>CareerSathi</a:t>
            </a:r>
            <a:r>
              <a:rPr lang="en-IN" dirty="0"/>
              <a:t> AI web interface.</a:t>
            </a:r>
            <a:endParaRPr lang="en-IN" dirty="0"/>
          </a:p>
          <a:p>
            <a:r>
              <a:rPr lang="en-IN" dirty="0"/>
              <a:t>• </a:t>
            </a:r>
            <a:r>
              <a:rPr lang="en-IN" b="1" dirty="0" err="1"/>
              <a:t>Vercel</a:t>
            </a:r>
            <a:r>
              <a:rPr lang="en-IN" dirty="0"/>
              <a:t> – Used for deploying and hosting the </a:t>
            </a:r>
            <a:r>
              <a:rPr lang="en-IN" dirty="0" err="1"/>
              <a:t>CareerSathi</a:t>
            </a:r>
            <a:r>
              <a:rPr lang="en-IN" dirty="0"/>
              <a:t> AI website.</a:t>
            </a:r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777240" y="1207008"/>
            <a:ext cx="1130198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proposed </a:t>
            </a:r>
            <a:r>
              <a:rPr lang="en-US" b="1" dirty="0" err="1"/>
              <a:t>CareerSathi</a:t>
            </a:r>
            <a:r>
              <a:rPr lang="en-US" b="1" dirty="0"/>
              <a:t> AI</a:t>
            </a:r>
            <a:r>
              <a:rPr lang="en-US" dirty="0"/>
              <a:t> stands out by combining </a:t>
            </a:r>
            <a:r>
              <a:rPr lang="en-US" b="1" dirty="0"/>
              <a:t>Agentic AI, RAG, Knowledge-Based Guidance, and Personalized Career Planning</a:t>
            </a:r>
            <a:r>
              <a:rPr lang="en-US" dirty="0"/>
              <a:t> into a single intelligent career mentoring platform.</a:t>
            </a:r>
            <a:endParaRPr lang="en-US" dirty="0"/>
          </a:p>
          <a:p>
            <a:r>
              <a:rPr lang="en-US" b="1" dirty="0"/>
              <a:t>Multi-Agent Intelligence</a:t>
            </a:r>
            <a:r>
              <a:rPr lang="en-US" dirty="0"/>
              <a:t> – Multiple specialized agents collaborate to provide career discovery, skill gap analysis, roadmap generation, placement support, and higher education guidance.</a:t>
            </a:r>
            <a:endParaRPr lang="en-US" dirty="0"/>
          </a:p>
          <a:p>
            <a:r>
              <a:rPr lang="en-US" b="1" dirty="0"/>
              <a:t>RAG-Based Accuracy</a:t>
            </a:r>
            <a:r>
              <a:rPr lang="en-US" dirty="0"/>
              <a:t> – Retrieves career information from a curated Knowledge Base before generating responses, ensuring reliable and up-to-date recommendations.</a:t>
            </a:r>
            <a:endParaRPr lang="en-US" dirty="0"/>
          </a:p>
          <a:p>
            <a:r>
              <a:rPr lang="en-US" b="1" dirty="0"/>
              <a:t>Personalized Career Roadmaps</a:t>
            </a:r>
            <a:r>
              <a:rPr lang="en-US" dirty="0"/>
              <a:t> – Generates customized learning paths based on a student's interests, skills, academic background, and career goals.</a:t>
            </a:r>
            <a:endParaRPr lang="en-US" dirty="0"/>
          </a:p>
          <a:p>
            <a:r>
              <a:rPr lang="en-US" b="1" dirty="0"/>
              <a:t>Rural Youth Empowerment</a:t>
            </a:r>
            <a:r>
              <a:rPr lang="en-US" dirty="0"/>
              <a:t> – Bridges the career guidance gap for students in rural and underserved areas by providing 24/7 access to expert career mentorship.</a:t>
            </a:r>
            <a:endParaRPr lang="en-US" dirty="0"/>
          </a:p>
          <a:p>
            <a:r>
              <a:rPr lang="en-US" b="1" dirty="0"/>
              <a:t>Skill Gap Identification</a:t>
            </a:r>
            <a:r>
              <a:rPr lang="en-US" dirty="0"/>
              <a:t> – Analyzes current skills and recommends targeted learning resources, certifications, and projects to improve employability.</a:t>
            </a:r>
            <a:endParaRPr lang="en-US" dirty="0"/>
          </a:p>
          <a:p>
            <a:r>
              <a:rPr lang="en-US" b="1" dirty="0"/>
              <a:t>Career-to-Action Guidance</a:t>
            </a:r>
            <a:r>
              <a:rPr lang="en-US" dirty="0"/>
              <a:t> – Goes beyond suggestions by providing step-by-step roadmaps, practical learning plans, and actionable career milestones.</a:t>
            </a:r>
            <a:endParaRPr lang="en-US" dirty="0"/>
          </a:p>
          <a:p>
            <a:r>
              <a:rPr lang="en-US" b="1" dirty="0"/>
              <a:t>Higher Education &amp; Scholarship Support</a:t>
            </a:r>
            <a:r>
              <a:rPr lang="en-US" dirty="0"/>
              <a:t> – Recommends suitable degrees, certifications, scholarships, and higher education opportunities.</a:t>
            </a:r>
            <a:endParaRPr lang="en-US" dirty="0"/>
          </a:p>
          <a:p>
            <a:r>
              <a:rPr lang="en-US" b="1" dirty="0"/>
              <a:t>Placement Readiness Assistance</a:t>
            </a:r>
            <a:r>
              <a:rPr lang="en-US" dirty="0"/>
              <a:t> – Provides interview preparation, resume guidance, and job-oriented learning recommendations.</a:t>
            </a:r>
            <a:endParaRPr lang="en-US" dirty="0"/>
          </a:p>
          <a:p>
            <a:r>
              <a:rPr lang="en-US" b="1" dirty="0"/>
              <a:t>Scalable &amp; Enterprise-Ready</a:t>
            </a:r>
            <a:r>
              <a:rPr lang="en-US" dirty="0"/>
              <a:t> – Built using </a:t>
            </a:r>
            <a:r>
              <a:rPr lang="en-US" b="1" dirty="0"/>
              <a:t>IBM </a:t>
            </a:r>
            <a:r>
              <a:rPr lang="en-US" b="1" dirty="0" err="1"/>
              <a:t>watsonx</a:t>
            </a:r>
            <a:r>
              <a:rPr lang="en-US" b="1" dirty="0"/>
              <a:t> Orchestrate, IBM watsonx.ai, Granite Models, </a:t>
            </a:r>
            <a:r>
              <a:rPr lang="en-US" b="1" dirty="0" err="1"/>
              <a:t>LangFlow</a:t>
            </a:r>
            <a:r>
              <a:rPr lang="en-US" b="1" dirty="0"/>
              <a:t>, and RAG architecture</a:t>
            </a:r>
            <a:r>
              <a:rPr lang="en-US" dirty="0"/>
              <a:t>, ensuring reliability, scalability, and AI governance.</a:t>
            </a:r>
            <a:endParaRPr lang="en-US" dirty="0"/>
          </a:p>
          <a:p>
            <a:r>
              <a:rPr lang="en-US" b="1" dirty="0"/>
              <a:t>Impact:</a:t>
            </a:r>
            <a:r>
              <a:rPr lang="en-US" dirty="0"/>
              <a:t> </a:t>
            </a:r>
            <a:r>
              <a:rPr lang="en-US" dirty="0" err="1"/>
              <a:t>CareerSathi</a:t>
            </a:r>
            <a:r>
              <a:rPr lang="en-US" dirty="0"/>
              <a:t> AI acts as a </a:t>
            </a:r>
            <a:r>
              <a:rPr lang="en-US" b="1" dirty="0"/>
              <a:t>smart digital career mentor</a:t>
            </a:r>
            <a:r>
              <a:rPr lang="en-US" dirty="0"/>
              <a:t>, helping students make informed career decisions, build relevant skills, and confidently achieve their professional goals. </a:t>
            </a:r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558324" y="391763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 panose="02020603050405020304"/>
              <a:buNone/>
            </a:pPr>
            <a:r>
              <a:rPr lang="en-US" sz="2400" b="1" dirty="0">
                <a:sym typeface="Times New Roman" panose="02020603050405020304"/>
              </a:rPr>
              <a:t>Git Hub Link</a:t>
            </a:r>
            <a:endParaRPr sz="2400" b="1" dirty="0">
              <a:sym typeface="Times New Roman" panose="02020603050405020304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558324" y="1095780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Github</a:t>
            </a:r>
            <a:r>
              <a:rPr lang="en-US" sz="185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Link:</a:t>
            </a:r>
            <a:endParaRPr lang="en-US" sz="185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altLang="en-US" sz="1850" b="0" i="0" u="none" strike="noStrike" cap="none" dirty="0">
                <a:solidFill>
                  <a:schemeClr val="accen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https://github.com/Meghanabetha17/ibminternship_project</a:t>
            </a:r>
            <a:endParaRPr lang="en-US" altLang="en-US" sz="185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>
              <a:lnSpc>
                <a:spcPct val="162000"/>
              </a:lnSpc>
              <a:buClr>
                <a:srgbClr val="2B3541"/>
              </a:buClr>
              <a:buSzPts val="1850"/>
            </a:pPr>
            <a:r>
              <a:rPr lang="en-US" sz="1850" b="0" i="0" u="none" strike="noStrike" cap="none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Careersathi_ai</a:t>
            </a:r>
            <a:r>
              <a:rPr lang="en-US" sz="185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Link:</a:t>
            </a:r>
            <a:endParaRPr lang="en-US" sz="185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>
              <a:lnSpc>
                <a:spcPct val="162000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chemeClr val="bg2">
                    <a:lumMod val="50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  <a:hlinkClick r:id="rId1"/>
              </a:rPr>
              <a:t>https://careersathiai.vercel.app/</a:t>
            </a:r>
            <a:r>
              <a:rPr lang="en-US" sz="1850" dirty="0">
                <a:solidFill>
                  <a:schemeClr val="bg2">
                    <a:lumMod val="50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lang="en-US" sz="1850" b="0" i="0" u="none" strike="noStrike" cap="none" dirty="0">
              <a:solidFill>
                <a:schemeClr val="bg2">
                  <a:lumMod val="50000"/>
                </a:schemeClr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880" y="2327791"/>
            <a:ext cx="8280400" cy="3992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9440" y="182880"/>
            <a:ext cx="490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highlight>
                  <a:srgbClr val="FFFF00"/>
                </a:highlight>
              </a:rPr>
              <a:t>How to Access </a:t>
            </a:r>
            <a:r>
              <a:rPr lang="en-US" sz="1800" b="1" dirty="0" err="1">
                <a:highlight>
                  <a:srgbClr val="FFFF00"/>
                </a:highlight>
              </a:rPr>
              <a:t>CareerSathi</a:t>
            </a:r>
            <a:r>
              <a:rPr lang="en-US" sz="1800" b="1" dirty="0">
                <a:highlight>
                  <a:srgbClr val="FFFF00"/>
                </a:highlight>
              </a:rPr>
              <a:t> AI</a:t>
            </a:r>
            <a:endParaRPr lang="en-IN" sz="1800" b="1" dirty="0">
              <a:highlight>
                <a:srgbClr val="FFFF00"/>
              </a:highlight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6901180" y="4610418"/>
            <a:ext cx="1351280" cy="11480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162800" y="5885484"/>
            <a:ext cx="1910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Click here</a:t>
            </a:r>
            <a:endParaRPr lang="en-IN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584202" y="998657"/>
            <a:ext cx="1032763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Step 1: Click the </a:t>
            </a:r>
            <a:r>
              <a:rPr lang="en-IN" b="1" dirty="0" err="1"/>
              <a:t>CareerSathi</a:t>
            </a:r>
            <a:r>
              <a:rPr lang="en-IN" b="1" dirty="0"/>
              <a:t> AI link.                     </a:t>
            </a:r>
            <a:r>
              <a:rPr lang="en-IN" sz="1600" b="1" dirty="0" err="1">
                <a:hlinkClick r:id="rId2"/>
              </a:rPr>
              <a:t>CareerSathi</a:t>
            </a:r>
            <a:r>
              <a:rPr lang="en-IN" sz="1600" b="1" dirty="0">
                <a:hlinkClick r:id="rId2"/>
              </a:rPr>
              <a:t> AI</a:t>
            </a:r>
            <a:r>
              <a:rPr lang="en-IN" sz="1600" b="1" dirty="0"/>
              <a:t>   /   </a:t>
            </a:r>
            <a:r>
              <a:rPr lang="en-US" sz="16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  <a:hlinkClick r:id="rId2"/>
              </a:rPr>
              <a:t>https://careersathiai.vercel.app/</a:t>
            </a:r>
            <a:r>
              <a:rPr lang="en-US" sz="16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lang="en-US" sz="1600" b="1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endParaRPr lang="en-IN" b="1" dirty="0"/>
          </a:p>
          <a:p>
            <a:r>
              <a:rPr lang="en-IN" b="1" dirty="0"/>
              <a:t>Step 2: The </a:t>
            </a:r>
            <a:r>
              <a:rPr lang="en-IN" b="1" dirty="0" err="1"/>
              <a:t>CareerSathi</a:t>
            </a:r>
            <a:r>
              <a:rPr lang="en-IN" b="1" dirty="0"/>
              <a:t> AI webpage will open.</a:t>
            </a:r>
            <a:endParaRPr lang="en-IN" b="1" dirty="0"/>
          </a:p>
          <a:p>
            <a:endParaRPr lang="en-IN" b="1" dirty="0"/>
          </a:p>
          <a:p>
            <a:r>
              <a:rPr lang="en-IN" b="1" dirty="0"/>
              <a:t>Step 3: Click the chat toggle button located at the bottom-right corner of the page.</a:t>
            </a:r>
            <a:endParaRPr lang="en-IN" b="1" dirty="0"/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3942080" y="1158240"/>
            <a:ext cx="68072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242" y="2343390"/>
            <a:ext cx="9143998" cy="389474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0242" y="3860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highlight>
                  <a:srgbClr val="00FF00"/>
                </a:highlight>
              </a:rPr>
              <a:t>Using </a:t>
            </a:r>
            <a:r>
              <a:rPr lang="en-IN" sz="1800" b="1" dirty="0" err="1">
                <a:highlight>
                  <a:srgbClr val="00FF00"/>
                </a:highlight>
              </a:rPr>
              <a:t>CareerSathi</a:t>
            </a:r>
            <a:r>
              <a:rPr lang="en-IN" sz="1800" b="1" dirty="0">
                <a:highlight>
                  <a:srgbClr val="00FF00"/>
                </a:highlight>
              </a:rPr>
              <a:t> AI</a:t>
            </a:r>
            <a:endParaRPr lang="en-IN" sz="1800" b="1" dirty="0">
              <a:highlight>
                <a:srgbClr val="00FF00"/>
              </a:highligh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28322" y="856903"/>
            <a:ext cx="926591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Step 4: The </a:t>
            </a:r>
            <a:r>
              <a:rPr lang="en-IN" b="1" dirty="0" err="1"/>
              <a:t>CareerSathi</a:t>
            </a:r>
            <a:r>
              <a:rPr lang="en-IN" b="1" dirty="0"/>
              <a:t> AI chat window will open.</a:t>
            </a:r>
            <a:endParaRPr lang="en-IN" b="1" dirty="0"/>
          </a:p>
          <a:p>
            <a:endParaRPr lang="en-IN" b="1" dirty="0"/>
          </a:p>
          <a:p>
            <a:r>
              <a:rPr lang="en-IN" b="1" dirty="0"/>
              <a:t>Step 5: Enter your career-related queries.</a:t>
            </a:r>
            <a:endParaRPr lang="en-IN" b="1" dirty="0"/>
          </a:p>
          <a:p>
            <a:endParaRPr lang="en-IN" b="1" dirty="0"/>
          </a:p>
          <a:p>
            <a:r>
              <a:rPr lang="en-IN" b="1" dirty="0"/>
              <a:t>Step 6: Receive personalized career guidance, skill recommendations, learning roadmaps, and internship suggestions.</a:t>
            </a:r>
            <a:endParaRPr lang="en-IN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58240" y="172720"/>
            <a:ext cx="624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 Token Usage</a:t>
            </a:r>
            <a:endParaRPr lang="en-IN" sz="24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78960"/>
            <a:ext cx="12192000" cy="58063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629444" y="451881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 panose="02020603050405020304"/>
              <a:buNone/>
            </a:pPr>
            <a:r>
              <a:rPr lang="en-US" sz="2400" b="1" dirty="0">
                <a:sym typeface="Times New Roman" panose="02020603050405020304"/>
              </a:rPr>
              <a:t>Future Scope </a:t>
            </a:r>
            <a:endParaRPr sz="2400" b="1" dirty="0">
              <a:sym typeface="Times New Roman" panose="02020603050405020304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629444" y="1290499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1. AI-Powered Voice Assistant &amp; Multilingual Support</a:t>
            </a:r>
            <a:endParaRPr lang="en-US" b="1" dirty="0"/>
          </a:p>
          <a:p>
            <a:r>
              <a:rPr lang="en-US" dirty="0"/>
              <a:t>The system can be enhanced with voice interaction and support for regional languages, enabling rural students to access career guidance in their preferred language. This will improve accessibility and inclusiveness.</a:t>
            </a:r>
            <a:endParaRPr lang="en-US" dirty="0"/>
          </a:p>
          <a:p>
            <a:r>
              <a:rPr lang="en-US" b="1" dirty="0"/>
              <a:t>2. Advanced Career Prediction &amp; Job Market Insights</a:t>
            </a:r>
            <a:endParaRPr lang="en-US" b="1" dirty="0"/>
          </a:p>
          <a:p>
            <a:r>
              <a:rPr lang="en-US" dirty="0"/>
              <a:t>Future versions can integrate real-time industry trends, job market analytics, and skill demand forecasting to provide more accurate career recommendations and emerging career opportunities.</a:t>
            </a:r>
            <a:endParaRPr lang="en-US" dirty="0"/>
          </a:p>
          <a:p>
            <a:r>
              <a:rPr lang="en-US" b="1" dirty="0"/>
              <a:t>3. Personalized Learning &amp; Certification Tracking</a:t>
            </a:r>
            <a:endParaRPr lang="en-US" b="1" dirty="0"/>
          </a:p>
          <a:p>
            <a:r>
              <a:rPr lang="en-US" dirty="0" err="1"/>
              <a:t>CareerSathi</a:t>
            </a:r>
            <a:r>
              <a:rPr lang="en-US" dirty="0"/>
              <a:t> AI can track student progress, recommend personalized courses and certifications, and dynamically update learning roadmaps based on individual achievements.</a:t>
            </a:r>
            <a:endParaRPr lang="en-US" dirty="0"/>
          </a:p>
          <a:p>
            <a:r>
              <a:rPr lang="en-US" b="1" dirty="0"/>
              <a:t>4. Scholarship &amp; Internship Recommendation Engine</a:t>
            </a:r>
            <a:endParaRPr lang="en-US" b="1" dirty="0"/>
          </a:p>
          <a:p>
            <a:r>
              <a:rPr lang="en-US" dirty="0"/>
              <a:t>The platform can automatically identify and recommend relevant scholarships, internships, competitions, and higher education opportunities based on student profiles.</a:t>
            </a:r>
            <a:endParaRPr lang="en-US" dirty="0"/>
          </a:p>
          <a:p>
            <a:r>
              <a:rPr lang="en-US" b="1" dirty="0"/>
              <a:t>5. Mobile App &amp; Offline Accessibility</a:t>
            </a:r>
            <a:endParaRPr lang="en-US" b="1" dirty="0"/>
          </a:p>
          <a:p>
            <a:r>
              <a:rPr lang="en-US" dirty="0"/>
              <a:t>A dedicated mobile application with offline support can help students in rural and low-connectivity regions access career guidance anytime and anywhere.</a:t>
            </a:r>
            <a:endParaRPr lang="en-US" dirty="0"/>
          </a:p>
          <a:p>
            <a:r>
              <a:rPr lang="en-US" b="1" dirty="0"/>
              <a:t>6. Institution &amp; Placement Cell Integration</a:t>
            </a:r>
            <a:endParaRPr lang="en-US" b="1" dirty="0"/>
          </a:p>
          <a:p>
            <a:r>
              <a:rPr lang="en-US" dirty="0" err="1"/>
              <a:t>CareerSathi</a:t>
            </a:r>
            <a:r>
              <a:rPr lang="en-US" dirty="0"/>
              <a:t> AI can be integrated with colleges and placement cells to provide institution-specific career guidance, placement preparation, and student progress monitoring.</a:t>
            </a:r>
            <a:endParaRPr lang="en-US" dirty="0"/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endParaRPr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1218724" y="545103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10536</Words>
  <Application>WPS Presentation</Application>
  <PresentationFormat>Widescreen</PresentationFormat>
  <Paragraphs>196</Paragraphs>
  <Slides>22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1" baseType="lpstr">
      <vt:lpstr>Arial</vt:lpstr>
      <vt:lpstr>SimSun</vt:lpstr>
      <vt:lpstr>Wingdings</vt:lpstr>
      <vt:lpstr>Arial</vt:lpstr>
      <vt:lpstr>Calibri</vt:lpstr>
      <vt:lpstr>Times New Roman</vt:lpstr>
      <vt:lpstr>Microsoft YaHei</vt:lpstr>
      <vt:lpstr>Arial Unicode MS</vt:lpstr>
      <vt:lpstr>Office Theme</vt:lpstr>
      <vt:lpstr>IBM University Engagement Project Submission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WHO ARE YOU ?</dc:creator>
  <cp:lastModifiedBy>B Buela</cp:lastModifiedBy>
  <cp:revision>92</cp:revision>
  <dcterms:created xsi:type="dcterms:W3CDTF">2025-07-08T05:06:00Z</dcterms:created>
  <dcterms:modified xsi:type="dcterms:W3CDTF">2026-06-04T13:34:49Z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2D6C7696F6744CCE930C41AEADD9E46D_13</vt:lpwstr>
  </property>
  <property fmtid="{D5CDD505-2E9C-101B-9397-08002B2CF9AE}" pid="3" name="KSOProductBuildVer">
    <vt:lpwstr>1033-12.1.0.26372</vt:lpwstr>
  </property>
</Properties>
</file>